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7772400" cy="5120640"/>
          </a:xfrm>
          <a:prstGeom prst="rect">
            <a:avLst/>
          </a:prstGeom>
          <a:solidFill>
            <a:srgbClr val="1E2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7406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NAS-MCO-PINNs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0CAF9"/>
                </a:solidFill>
                <a:latin typeface="Calibri"/>
              </a:rPr>
              <a:t>Neural Architecture Search + Multi-Loss Consistency</a:t>
            </a:r>
          </a:p>
          <a:p>
            <a:pPr algn="l"/>
            <a:r>
              <a:rPr sz="2000" b="0" i="0">
                <a:solidFill>
                  <a:srgbClr val="90CAF9"/>
                </a:solidFill>
                <a:latin typeface="Calibri"/>
              </a:rPr>
              <a:t>for Physics-Informed Neural Networks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07792"/>
            <a:ext cx="713232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035808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0CAF9"/>
                </a:solidFill>
                <a:latin typeface="Calibri"/>
              </a:rPr>
              <a:t>IKT590-G 26V  —  Master's Thesis  |  March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56432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DEFB"/>
                </a:solidFill>
                <a:latin typeface="Calibri"/>
              </a:rPr>
              <a:t>University of Agder  ·  Department of ICT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3474720" cy="3840480"/>
          </a:xfrm>
          <a:prstGeom prst="rect">
            <a:avLst/>
          </a:prstGeom>
          <a:solidFill>
            <a:srgbClr val="0D1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1280160"/>
            <a:ext cx="347472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298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KEY 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CAF9"/>
                </a:solidFill>
                <a:latin typeface="Calibri"/>
              </a:rPr>
              <a:t>Best Result: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3786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L2 = 0.014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66456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CAF9"/>
                </a:solidFill>
                <a:latin typeface="Calibri"/>
              </a:rPr>
              <a:t>vs FEM Baseline: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986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9× more accurate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3756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CAF9"/>
                </a:solidFill>
                <a:latin typeface="Calibri"/>
              </a:rPr>
              <a:t>Inference Speed: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57164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18,400× faster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1055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F5F5"/>
                </a:solidFill>
                <a:latin typeface="Calibri"/>
              </a:rPr>
              <a:t>0.01 s  vs  184 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6035040" cy="5394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8016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Calibri"/>
              </a:rPr>
              <a:t>Nine Progressive Levels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70992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1907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Baseline PINN  —  Single-shot 2D quenching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39112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05740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066543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Temporal Skip Operator  —  48% FEM step reduction (our design)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86584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40487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414015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Hybrid FEM-PINN  —  Adaptive residual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734056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27523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61487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Distortion Prediction  —  Mechanical + thermal coupling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081527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3099815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108959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L-BFGS Refinement  —  Two-stage Adam + L-BFGS training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8999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447287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3456431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Poisson Benchmark  —  Generalization to analytic PDE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776472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3794759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803904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Multi-Domain + Temporal  —  5 geometries, time-skip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23944"/>
            <a:ext cx="502920" cy="29260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42231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4151376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3D Multi-Geometry  —  48 experiments across 4 3D domains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471416"/>
            <a:ext cx="50292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489703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449884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  <a:latin typeface="Calibri"/>
              </a:rPr>
              <a:t>SA-PINNs + Fourier  —  Self-adaptive weights + Fourier features  ← BEST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234440"/>
            <a:ext cx="5440680" cy="5394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92240" y="1234440"/>
            <a:ext cx="5440680" cy="38404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1261872"/>
            <a:ext cx="5349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Performance Summary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1783080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18288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FEM Reference Time: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18288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C62828"/>
                </a:solidFill>
                <a:latin typeface="Calibri"/>
              </a:rPr>
              <a:t>184 s per run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2203704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224942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PINN Inference Time: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22494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Calibri"/>
              </a:rPr>
              <a:t>0.01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0" y="2624328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6700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Speedup Factor: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26700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Calibri"/>
              </a:rPr>
              <a:t>18,400×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0" y="3044952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0" y="3090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Best L2 Error: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09067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Calibri"/>
              </a:rPr>
              <a:t>0.014  (Level 9)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3465576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351129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vs FEM Baseline: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35112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Calibri"/>
              </a:rPr>
              <a:t>9× more accurate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3886200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0" y="3931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Training Time: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39319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D47A1"/>
                </a:solidFill>
                <a:latin typeface="Calibri"/>
              </a:rPr>
              <a:t>~400–600 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0" y="4306824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0" y="43525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NAS Optimizers: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35440" y="43525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237E"/>
                </a:solidFill>
                <a:latin typeface="Calibri"/>
              </a:rPr>
              <a:t>Bayesian, NSGA-II, NSGA-III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0" y="4727448"/>
            <a:ext cx="52120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5120" y="477316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Total Experiments: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35440" y="477316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237E"/>
                </a:solidFill>
                <a:latin typeface="Calibri"/>
              </a:rPr>
              <a:t>48  (Level 8 alone)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Problem — Industrial Casting &amp; FEM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Calibri"/>
              </a:rPr>
              <a:t>A356 Aluminum Water Quenching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68432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A356 aluminum subframes undergo water quenching after casting.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8915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Non-uniform cooling → residual stress → distortion → quality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221992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FEM Simulation (Current Standard):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39619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Accurate but slow: 21 time steps × 8.8 s = 184 s per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64444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Too slow for NAS, optimization, or real-time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84927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Cannot run thousands of parameter sweeps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182112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PINN Approach (This Work):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399739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Train once:  ~400–600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604564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Predict full temperature field:  0.01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809390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18,400× faster at inference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014216"/>
            <a:ext cx="6949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• Enables NAS, sensitivity analysis, param sweeps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234440"/>
            <a:ext cx="4434840" cy="53949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1234440"/>
            <a:ext cx="4434840" cy="3657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3800" y="1252728"/>
            <a:ext cx="4343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Governing Equations &amp; Properties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17373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Heat Equation: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194218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  ρ·cp·∂T/∂t = k·∇²T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2750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Boundary Condition: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247985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  −k·∂T/∂n = h·(T − T∞)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81269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A356 Material Properties: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01752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ρ  = 2670 kg/m³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5240" y="322234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cp = 963 J/(kg·K)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342717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k  = 151 W/(m·K)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63199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T₀ = 540 °C  (initial)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83682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T∞ = 20 °C   (water)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415686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HTC Regime: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436168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Film boiling   → h ≈ 800 W/m²K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455371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Nucleate boil. → h ≈ 12,000 W/m²K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47457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Convection     → h ≈ 1,000 W/m²K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FEM Reference Model  —  Mortensen et al. (2026)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6766560" cy="5394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98448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Calibri"/>
              </a:rPr>
              <a:t>What is the FEM Reference?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801368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We did NOT implement FEM ourselves.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91563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Reference data is from: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276856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Calibri"/>
              </a:rPr>
              <a:t>  D. Mortensen, G. Noorsumar, H.G. Fjaer, R. Babaei, P.E. Dronen (2026)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467051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"Mitigating distortions in cast automotive subframes: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45359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 A finite element simulation approach"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823667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Int J Adv Manuf Technol,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001975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  DOI: 10.1007/s00170-026-17515-w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287268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From this paper we extracted: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477463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✓ Material params (Table 1) — A356 flow stress F, n, m vs 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655771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✓ HTC curve h(T) — boiling regime transition (Fig. 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834079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✓ Ref. temperature histories (Figs 7, 15-17) — ground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012387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✓ Distortion at 8 CMM measurement points (Fig. 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309567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Standard practice: compare PINN predictions to published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487875"/>
            <a:ext cx="6537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FEM results rather than re-implementing FEM from scratch.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234440"/>
            <a:ext cx="4709160" cy="5394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23760" y="1234440"/>
            <a:ext cx="4709160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1252728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A356 Flow Stress Parameters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1618488"/>
            <a:ext cx="4617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12121"/>
                </a:solidFill>
                <a:latin typeface="Calibri"/>
              </a:rPr>
              <a:t>(Source: Table 1 — D. Mortensen, G. Noorsumar, H.G. Fjaer, R. Babaei, P.E. Dronen (2026))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60920" y="1938528"/>
          <a:ext cx="443483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664"/>
                <a:gridCol w="1241755"/>
                <a:gridCol w="1108710"/>
                <a:gridCol w="1108710"/>
              </a:tblGrid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 (°C)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 (MPa)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22.0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0.300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0.270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0.150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0.277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7269480" y="385876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Parameter Definitions: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4187952"/>
            <a:ext cx="4617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• F — Flow stress coefficient (MPa)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480560"/>
            <a:ext cx="4617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• n — Strain rate sensitivity exponent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4773168"/>
            <a:ext cx="4617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• m — Thermal softening exponent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5065776"/>
            <a:ext cx="4617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• T — Temperature (°C)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59436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12121"/>
                </a:solidFill>
                <a:latin typeface="Calibri"/>
              </a:rPr>
              <a:t>Used in Level 4 mechanical coupling (distortion).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Replace FEM?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37E"/>
                </a:solidFill>
                <a:latin typeface="Calibri"/>
              </a:rPr>
              <a:t>Side-by-Side Comparison: FEM (Reference) vs Our PINN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66"/>
                <a:gridCol w="2811780"/>
                <a:gridCol w="5960973"/>
              </a:tblGrid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FEM (Reference)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Our PINN (Level 9)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Runtime per field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184 s per run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444 s train + 0.01 s predict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Time steps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21 FEM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 training 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Prediction time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184 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0.01 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Accuracy (L2)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Reference (ground truth)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B5E20"/>
                          </a:solidFill>
                          <a:latin typeface="Calibri"/>
                        </a:rPr>
                        <a:t>0.014  ← BEST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NAS-compatible?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No  (too slow)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Parameter sweep?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No  (1000 runs = 51 hours)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Yes  (1000 runs = 10 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GPU required?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Yes (available on server)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5560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Mesh needed?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Yes (structured FEM mesh)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No  (meshfree collocation)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37760"/>
            <a:ext cx="11247120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93776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0017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Once the PINN is trained, running 1000 parameter variations takes 10 seconds instead of 51 hours (1000 × 184 s). This unlocks NAS, uncertainty quantification, and real-time optimization that are impossible with FEM.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961888"/>
            <a:ext cx="11247120" cy="6858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016752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D4037"/>
                </a:solidFill>
                <a:latin typeface="Calibri"/>
              </a:rPr>
              <a:t>Note: The 444 s training time is a one-time cost. Amortized over 1000 queries: total = 444 s + 10 s = 454 s  vs  FEM 184,000 s — a 405× reduction in total wall-clock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Contribution 1: Temporal Skip Operator  (our design)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6675120" cy="5394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2588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Why we designed this: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2796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Standard PINNs need 21 separate training runs (one per FEM step).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0627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We designed a single network that predicts s steps ahead.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991563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The Formula: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93645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Calibri"/>
              </a:rPr>
              <a:t>  T̂(t + s·Δt) = T_IC + τ · fθ(x, y, τ, T_IC)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3838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where  τ = t / (s·Δt)  ∈ [0, 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669133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Why this specific form: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87121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At τ = 0:  prediction = T_IC  (IC satisfied exactly)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04952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Eliminates IC as a soft constraint → faster convergence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2278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Inspired by IC-residual formulations [Lagaris et al., 1998]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51312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Our Novelty: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70332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The temporal skip concept (s &gt; 1) is our contribution.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88162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Not found in prior PINN literature for quenching.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05993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At skip=2: error DECREASES because fewer FEM steps means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2382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less numerical discretization error from FEM accumulates.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1234440"/>
            <a:ext cx="4846320" cy="5394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86600" y="1234440"/>
            <a:ext cx="4846320" cy="38404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12618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Skip Operator Results (Level 2)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223760" y="1691640"/>
          <a:ext cx="452627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5781"/>
                <a:gridCol w="995781"/>
                <a:gridCol w="995781"/>
                <a:gridCol w="1538935"/>
              </a:tblGrid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Skip 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FEM Calls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FEM Saved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L2 Error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  (baseline)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21 / 21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0.126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11 /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B5E20"/>
                          </a:solidFill>
                          <a:latin typeface="Calibri"/>
                        </a:rPr>
                        <a:t>0.108  ← recommended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6 / 21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0.204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4 /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086600" y="3493008"/>
            <a:ext cx="4846320" cy="12344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3493008"/>
            <a:ext cx="91440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35387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Key Insight: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858768"/>
            <a:ext cx="4480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skip=2 gives LOWER error than skip=1 because fewer FEM boundary conditions are imposed, reducing accumulated FEM discretization error in the PINN training signal.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4828032"/>
            <a:ext cx="4846320" cy="164592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487375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FEM Savings at skip=2: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184648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21 steps → 11 steps  =  48% fewer FEM calls
184 s → ~91 s per parameter sweep point
For 1000 NAS candidates: saves ~93,000 s of FEM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Contribution 2: Fourier Feature Embedding  [Tancik et al., 2020]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6675120" cy="5394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2588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Why we adopted this: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2796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Standard MLPs suffer from 'spectral bias' [Rahaman et al., 2019]: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0627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they learn low-frequency patterns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991563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A356 quenching characteristics: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18175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• Rapid cooling in first 5 s: ΔT ≈ 200°C (high-frequency signal)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36006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• Standard PINNs learn this slowly → poor early predictions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645359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What we adopted from [Tancik et al., 2020]: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847441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Calibri"/>
              </a:rPr>
              <a:t>  Encoding:  γ(v) = [sin(2π·B·v),  cos(2π·B·v)]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03763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B ∼ N(0, σ²),  frozen during training (not learned)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2159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Our settings:  n_fourier=64,  σ=1.0  →  128-dim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39425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Applied to all inputs: (x, y, t, T_IC)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679545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What we implemented ourselves: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881627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FourierEmbedding class  (fourier_pinn.py)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059935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Integration with NAS architecture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23824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Ablation: SA+Fourier vs SA-only vs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52353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Effect on L2 (NSGA-II):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71373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SA-only:     L2 = 0.0397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89204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Calibri"/>
              </a:rPr>
              <a:t>  SA+Fourier:  L2 = 0.0137  (3× improvement)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234440"/>
            <a:ext cx="4846320" cy="53949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86600" y="1234440"/>
            <a:ext cx="484632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12618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Convergence Comparison</a:t>
            </a:r>
          </a:p>
        </p:txBody>
      </p:sp>
      <p:pic>
        <p:nvPicPr>
          <p:cNvPr id="27" name="Picture 26" descr="fig3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91640"/>
            <a:ext cx="4663440" cy="3291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32320" y="5047488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12121"/>
                </a:solidFill>
                <a:latin typeface="Calibri"/>
              </a:rPr>
              <a:t>Fig 3: Training convergence with / without Fourier features
(Level 9, NSGA-II optimizer, 2D quenching domain)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5559552"/>
            <a:ext cx="4846320" cy="10515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86600" y="5559552"/>
            <a:ext cx="9144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5605272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Fourier features reduce training epochs for convergence by ~30% and improve final L2 by 3× compared to SA-only on the same NAS-selected architecture.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Contribution 3: Self-Adaptive Loss Weights  [Wang et al., 2022]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6675120" cy="5394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2588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Why we adopted this: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52796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  <a:latin typeface="Calibri"/>
              </a:rPr>
              <a:t>PINN loss = λ_phys·L_phys + λ_bc·L_bc + λ_ic·L_ic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18157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Our three loss terms differ in scale by 10⁴: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96465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62828"/>
                </a:solidFill>
                <a:latin typeface="Calibri"/>
              </a:rPr>
              <a:t>  PDE residual scale: ~4 × 10⁷  (dominant)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074773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BC loss scale:      ~17,333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253081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IC loss scale:      ~520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2538374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Problem with fixed weights: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728569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λ = (1, 10, 10) works for one problem but needs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06877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expert retuning for each geometry or material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3085185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Wrong weights → optimization dominated by large PDE term.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37047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Solution from [Wang et al., 2022]: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35725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λ = softplus(w),  where w is a learnable parameter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75086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w trained jointly with network at smaller lr = 0.001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92917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Weights adapt automatically to loss scale differences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214469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7E"/>
                </a:solidFill>
                <a:latin typeface="Calibri"/>
              </a:rPr>
              <a:t>What we implemented: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416552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D32"/>
                </a:solidFill>
                <a:latin typeface="Calibri"/>
              </a:rPr>
              <a:t>  SelfAdaptiveWeights module  (sa_loss.py)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5948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Initial:    λ_phys=1.0,  λ_bc=10.0,  λ_ic=10.0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773168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  Converged:  λ_phys≈0.48, λ_bc≈9.28, λ_ic≈9.28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951476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Ratio λ_bc / λ_phys ≈ 19×  (boundary/IC dominate)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1234440"/>
            <a:ext cx="4846320" cy="53949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086600" y="1234440"/>
            <a:ext cx="484632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126187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 Weight Evolution During Training</a:t>
            </a:r>
          </a:p>
        </p:txBody>
      </p:sp>
      <p:pic>
        <p:nvPicPr>
          <p:cNvPr id="28" name="Picture 27" descr="fig4_sa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91640"/>
            <a:ext cx="4663440" cy="3291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32320" y="5047488"/>
            <a:ext cx="4709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12121"/>
                </a:solidFill>
                <a:latin typeface="Calibri"/>
              </a:rPr>
              <a:t>Fig 4: Self-adaptive weight evolution over training epochs
(Level 9, NSGA-II optimizer, 2D quenching)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5559552"/>
            <a:ext cx="4846320" cy="10515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86600" y="5559552"/>
            <a:ext cx="9144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0" y="5605272"/>
            <a:ext cx="4617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SA weights allow the same architecture to work across all 9 levels without manual retuning — critical for NAS where different architectures produce different loss scales.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Neural Architecture Search — Three Optimizers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3749039" cy="4846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234440"/>
            <a:ext cx="3749039" cy="3657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52728"/>
            <a:ext cx="36118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Bayesian Optimization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709928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Based on: [Snoek et al., 2012]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69948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Library: scikit-optimize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12415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Strategy: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8417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Gaussian Process surrogate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44419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over architecture search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98394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Evaluations: 500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58414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Best for: simpler geometries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112617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Level 9 Best L2: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72637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0.0253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53781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Architecture found: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9783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5 layers × 128 neurons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85785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Activation: GELU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1787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~83K parameters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749039" cy="48463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749039" cy="365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5968" y="1252728"/>
            <a:ext cx="36118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NSGA-II  ←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09928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Based on: [Deb et al., 2002]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1869948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Library: pymoo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212415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Strategy: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28417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Multi-objective evolutionary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44419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2 objectives: L2 + #params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2698394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Evaluations: pop=20 × 25 gens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2858414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Best for: complex geometries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3112617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  <a:latin typeface="Calibri"/>
              </a:rPr>
              <a:t>Level 9 Best L2: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3272637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  0.0137  ← OVERALL BEST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3548786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Architecture found: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3708806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4 layers × 96 neurons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1688" y="3868826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Activation: SiLU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61688" y="4028846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~67K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11312" y="1234440"/>
            <a:ext cx="3749039" cy="4846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11312" y="1234440"/>
            <a:ext cx="3749039" cy="3657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02752" y="1252728"/>
            <a:ext cx="36118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NSGA-III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2" y="1709928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Based on: [Deb &amp; Jain, 2014]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2" y="1869948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Library: pymoo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8472" y="212415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Strategy: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8472" y="228417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Many-objective with reference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2" y="2444191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point vectors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48472" y="2698394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Evaluations: pop=20 × 25 gens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2" y="2858414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Best for: compact architectures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8472" y="3112617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Level 9 Best L2: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48472" y="3272637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  0.0668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8472" y="353781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37E"/>
                </a:solidFill>
                <a:latin typeface="Calibri"/>
              </a:rPr>
              <a:t>Architecture found: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2" y="369783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3 layers × 64 neurons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48472" y="385785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Activation: Tanh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48472" y="4017873"/>
            <a:ext cx="35204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  ~17K parameters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8600" y="6199632"/>
            <a:ext cx="11731752" cy="5486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0040" y="6263640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237E"/>
                </a:solidFill>
                <a:latin typeface="Calibri"/>
              </a:rPr>
              <a:t>NAS Search Space:  Layers: 3–6  |  Neurons/layer: 64–160  |  Activations: Tanh, GELU, SiLU, ReLU  |  Fourier features: on/off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Level 8 — 3D Temperature Fields: Predicted vs. FEM  (4 Domains)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70432"/>
            <a:ext cx="5897880" cy="256032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79576"/>
            <a:ext cx="5852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Predicted Temperature Fields (z-midplane)</a:t>
            </a:r>
          </a:p>
        </p:txBody>
      </p:sp>
      <p:pic>
        <p:nvPicPr>
          <p:cNvPr id="7" name="Picture 6" descr="fig1_thermal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44752"/>
            <a:ext cx="5897880" cy="4251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63640" y="1170432"/>
            <a:ext cx="566928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79576"/>
            <a:ext cx="5623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PINN vs. FEM Reference — Feasibility Check</a:t>
            </a:r>
          </a:p>
        </p:txBody>
      </p:sp>
      <p:pic>
        <p:nvPicPr>
          <p:cNvPr id="10" name="Picture 9" descr="fig8_3d_feasi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44752"/>
            <a:ext cx="5669280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4320" y="5733288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12121"/>
                </a:solidFill>
                <a:latin typeface="Calibri"/>
              </a:rPr>
              <a:t>Turbo colormap: blue = 20 °C → yellow = 540 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6016752"/>
            <a:ext cx="11731752" cy="658368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053328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237E"/>
                </a:solidFill>
                <a:latin typeface="Calibri"/>
              </a:rPr>
              <a:t>4 domains × 3 NAS optimizers × 4 skip values = 48 runs  |  We achieved MAE = 2.19 °C on L-Shape (NSGA-II, skip=1)  |  At skip=2 (52% FEM savings): all domains MAE &lt; 11 °C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Level 8 — Full Results: MAE (°C) for All 48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1645920" cy="25603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179576"/>
            <a:ext cx="16093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5E20"/>
                </a:solidFill>
                <a:latin typeface="Calibri"/>
              </a:rPr>
              <a:t>&lt; 8 °C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170432"/>
            <a:ext cx="1645920" cy="256032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29968" y="1179576"/>
            <a:ext cx="16093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F17"/>
                </a:solidFill>
                <a:latin typeface="Calibri"/>
              </a:rPr>
              <a:t>8–15 °C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170432"/>
            <a:ext cx="1645920" cy="2560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67328" y="1179576"/>
            <a:ext cx="16093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71C1C"/>
                </a:solidFill>
                <a:latin typeface="Calibri"/>
              </a:rPr>
              <a:t>&gt; 15 °C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150876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1943100"/>
                <a:gridCol w="1828800"/>
                <a:gridCol w="1943100"/>
                <a:gridCol w="1943100"/>
                <a:gridCol w="1600200"/>
              </a:tblGrid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Optimizer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skip=1
(0%)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skip=2
(52%)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skip=4
(71%)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skip=6
(81%)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Rectangular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5.53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10.31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21.39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15.65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Rectangular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5.41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10.39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20.99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25.86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Rectangular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5.41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10.50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21.00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25.90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Cylinder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5.33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10.69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11.54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10.23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Cylinder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4.23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8.69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18.93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25.38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Cylinder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4.20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9.14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16.24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22.54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Stacked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4.95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9.80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21.64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17.18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Stacked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5.32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10.20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19.60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25.69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Stacked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5.12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10.27</a:t>
                      </a:r>
                    </a:p>
                  </a:txBody>
                  <a:tcPr>
                    <a:solidFill>
                      <a:srgbClr val="FFF9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19.77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25.51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L-Shape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5.60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6.19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5.61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5.60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L-Shape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2.19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5.74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22.53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L-Shape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2.19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 5.72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15.51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22.73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274320" y="6080760"/>
            <a:ext cx="11612880" cy="5943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10819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237E"/>
                </a:solidFill>
                <a:latin typeface="Calibri"/>
              </a:rPr>
              <a:t>Best 3D result: L-Shape + NSGA-II/III, skip=1 → MAE = 2.19 °C  |  Recommended: skip=2 (52% FEM savings, MAE &lt; 11 °C for all domains)  |  3D future work: run NAS directly in 3D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Level 9 — SA-PINNs + Fourier Features  (Our Best Result)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07008"/>
            <a:ext cx="5394960" cy="3566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435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37E"/>
                </a:solidFill>
                <a:latin typeface="Calibri"/>
              </a:rPr>
              <a:t>Level 9 — All Variants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581912"/>
          <a:ext cx="5303518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2844"/>
                <a:gridCol w="848563"/>
                <a:gridCol w="636422"/>
                <a:gridCol w="1166774"/>
                <a:gridCol w="1378915"/>
              </a:tblGrid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Opt.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Dim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SA+Fourier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0.0253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482s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SA+Fourier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B5E20"/>
                          </a:solidFill>
                          <a:latin typeface="Calibri"/>
                        </a:rPr>
                        <a:t>0.0137★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444s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SA+Fourier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0.0668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412s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SA+Fourier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596s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SA+Fourier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3D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0.717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555s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Bayesian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404s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SA-only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0.0397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378s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89560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0.055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212121"/>
                          </a:solidFill>
                          <a:latin typeface="Calibri"/>
                        </a:rPr>
                        <a:t>312s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2245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12121"/>
                </a:solidFill>
                <a:latin typeface="Calibri"/>
              </a:rPr>
              <a:t>★ = best result across all 9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07008"/>
            <a:ext cx="621792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6440" y="1216152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Exact vs. Predicted Temperature Fields</a:t>
            </a:r>
          </a:p>
        </p:txBody>
      </p:sp>
      <p:pic>
        <p:nvPicPr>
          <p:cNvPr id="11" name="Picture 10" descr="fig1_2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527048"/>
            <a:ext cx="6217920" cy="2057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60720" y="360273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12121"/>
                </a:solidFill>
                <a:latin typeface="Calibri"/>
              </a:rPr>
              <a:t>2D result: SA+Fourier, NSGA-II  —  L2 = 0.0137</a:t>
            </a:r>
          </a:p>
        </p:txBody>
      </p:sp>
      <p:pic>
        <p:nvPicPr>
          <p:cNvPr id="13" name="Picture 12" descr="fig2_3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840480"/>
            <a:ext cx="6217920" cy="1691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60720" y="5550408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212121"/>
                </a:solidFill>
                <a:latin typeface="Calibri"/>
              </a:rPr>
              <a:t>3D result: SA+Fourier, Bayesian  —  L2 = 0.247  (NAS done in 2D → 3D gap)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806440"/>
            <a:ext cx="11731752" cy="914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" y="580644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We achieved L2 = 0.0137 (SA+Fourier, NSGA-II, 2D)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53912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We improved 4× over Level 5 (L2=0.055)  |  9× better than FEM skip=1 (L2=0.126)  |  Inference: 0.01 s vs 184 s FEM → 18,400× speedup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833872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7E"/>
                </a:solidFill>
                <a:latin typeface="Calibri"/>
              </a:rPr>
              <a:t>NSGA-II arch: 3 layers × 153 neurons
λ_phys=0.48  |  λ_bc=9.28  |  λ_ic=9.28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FEM Skip vs PINN — Full Comparison Across All Levels</a:t>
            </a:r>
          </a:p>
        </p:txBody>
      </p:sp>
      <p:pic>
        <p:nvPicPr>
          <p:cNvPr id="5" name="Picture 4" descr="fem_pinn_summa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12471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486400"/>
            <a:ext cx="109728" cy="1188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5504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Progressive improvement: L2 went from 0.126 (L1) → 0.014 (L9)  =  9× reduction.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9161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Key: Fourier features alone gave 3× L2 improvement in L9 (0.0397 → 0.0137). Combined with SA weights and NSGA-II architecture search, this is the complete NAS-MCO-PINNs framework.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Findings and 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61872"/>
            <a:ext cx="3749039" cy="23317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261872"/>
            <a:ext cx="457200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20848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53312"/>
            <a:ext cx="3108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Skip=2 is Optimal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46504"/>
            <a:ext cx="31089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48% fewer FEM calls while IMPROVING accuracy. Less error accumulation from FEM discretization. Recommended default for all quenching scenarios.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7952" y="1261872"/>
            <a:ext cx="3749039" cy="23317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7952" y="1261872"/>
            <a:ext cx="457200" cy="2331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7952" y="20848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1353312"/>
            <a:ext cx="3108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Calibri"/>
              </a:rPr>
              <a:t>Fourier Features 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1746504"/>
            <a:ext cx="31089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Spectral bias in standard PINNs slows learning of rapid initial cooling (ΔT≈200°C in 5 s). Fourier encoding gives 3× L2 improvement.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1261872"/>
            <a:ext cx="3749039" cy="23317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261872"/>
            <a:ext cx="457200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08483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8" y="1353312"/>
            <a:ext cx="3108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SA Weights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1746504"/>
            <a:ext cx="31089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λ values converge to λ_bc ≈ 19× λ_phys. Boundary and IC conditions dominate. No manual retuning needed across geometries.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3822191"/>
            <a:ext cx="3749039" cy="23317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8600" y="3822191"/>
            <a:ext cx="457200" cy="23317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4645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1"/>
            <a:ext cx="3108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  <a:latin typeface="Calibri"/>
              </a:rPr>
              <a:t>NSGA-II Best for 2D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06824"/>
            <a:ext cx="31089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Finds compact 67K-param architecture that generalizes well. Multi-objective Pareto front (L2 + params) identifies efficient architectures automatically.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87952" y="3822191"/>
            <a:ext cx="3749039" cy="23317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87952" y="3822191"/>
            <a:ext cx="457200" cy="23317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87952" y="4645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36592" y="3913631"/>
            <a:ext cx="3108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C00"/>
                </a:solidFill>
                <a:latin typeface="Calibri"/>
              </a:rPr>
              <a:t>3D Gap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4306824"/>
            <a:ext cx="31089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NAS in 2D cannot find adequate 3D architectures. L2 jumps from 0.014 (2D) to 0.247 (3D). Future work: 3D-specific NAS, transfer learning.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56448" y="3822191"/>
            <a:ext cx="3749039" cy="23317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822191"/>
            <a:ext cx="457200" cy="23317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645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05088" y="3913631"/>
            <a:ext cx="310895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  <a:latin typeface="Calibri"/>
              </a:rPr>
              <a:t>L9 Final: L2 = 0.014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05088" y="4306824"/>
            <a:ext cx="310895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  <a:latin typeface="Calibri"/>
              </a:rPr>
              <a:t>9× better than FEM skip=1 baseline (L2=0.126). 18,400× faster inference (0.01 s vs 184 s). Enables NAS, optimization, real-time prediction.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70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5806440" cy="502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325880"/>
            <a:ext cx="562356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[1]  Raissi, M., Perdikaris, P., &amp; Karniadakis, G.E. (2019). Physics-informed neural networks: A deep learning framework for solving forward and inverse problems. J. Comput. Phys., 378, 686–707. DOI: 10.1016/j.jcp.2018.10.045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075688"/>
            <a:ext cx="562356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[2]  D. Mortensen, G. Noorsumar, H.G. Fjaer, R. Babaei, P.E. Dronen (2026). Mitigating distortions in cast automotive subframes: A finite element simulation approach. Int J Adv Manuf Technol. DOI: 10.1007/s00170-026-17515-w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825496"/>
            <a:ext cx="562356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[3]  Tancik, M., et al. (2020). Fourier Features Let Networks Learn High Frequency Functions in Low Dimensional Domains. NeurIPS 2020.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3575303"/>
            <a:ext cx="562356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[4]  Wang, S., Teng, Y., &amp; Perdikaris, P. (2021). Understanding and mitigating gradient flow pathologies in physics-informed neural networks. SIAM J. Sci. Comput., 43(5).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325112"/>
            <a:ext cx="562356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[5]  Wang, S., Yu, X., &amp; Perdikaris, P. (2022). When and why PINNs fail to train: A neural tangent kernel perspective. J. Comput. Phys., 449. DOI: 10.1016/j.jcp.2021.110768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5074920"/>
            <a:ext cx="562356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[6]  Deb, K., Pratap, A., Agarwal, S., &amp; Meyarivan, T. (2002). A fast and elitist multiobjective genetic algorithm: NSGA-II. IEEE Trans. Evol. Comput., 6(2). DOI: 10.1109/4235.996017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760720" cy="502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325880"/>
            <a:ext cx="5577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[7]  Deb, K., &amp; Jain, H. (2014). An evolutionary many-objective optimization algorithm using reference-point-based nondominated sorting: NSGA-III. IEEE Trans. Evol. Comput., 18(4). DOI: 10.1109/TEVC.2013.2281535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075688"/>
            <a:ext cx="5577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[8]  Snoek, J., Larochelle, H., &amp; Adams, R.P. (2012). Practical Bayesian Optimization of Machine Learning Algorithms. NeurIPS 2012.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825496"/>
            <a:ext cx="5577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[9]  Glorot, X., &amp; Bengio, Y. (2010). Understanding the difficulty of training deep feedforward neural networks. AISTATS 2010.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575303"/>
            <a:ext cx="5577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[10] Lagaris, I.E., Likas, A., &amp; Fotiadis, D.I. (1998). Artificial neural networks for solving ordinary and partial differential equations. IEEE Trans. Neural Netw., 9(5). DOI: 10.1109/72.712178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325112"/>
            <a:ext cx="5577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[11] Rahaman, N., et al. (2019). On the spectral bias of neural networks. ICML 2019.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74920"/>
            <a:ext cx="5577840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12121"/>
                </a:solidFill>
                <a:latin typeface="Calibri"/>
              </a:rPr>
              <a:t>[12] Liu, D.C., &amp; Nocedal, J. (1989). On the limited memory BFGS method for large scale optimization. Math. Programming, 45(1–3), 503–528.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64008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00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0CAF9"/>
                </a:solidFill>
                <a:latin typeface="Calibri"/>
              </a:rPr>
              <a:t>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