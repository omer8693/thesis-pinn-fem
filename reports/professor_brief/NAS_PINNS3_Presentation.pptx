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7772400" cy="5120640"/>
          </a:xfrm>
          <a:prstGeom prst="rect">
            <a:avLst/>
          </a:prstGeom>
          <a:solidFill>
            <a:srgbClr val="1E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7406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NAS-MCO-PINNs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0CAF9"/>
                </a:solidFill>
                <a:latin typeface="Calibri"/>
              </a:rPr>
              <a:t>Neural Architecture Search + Multi-Loss Consistency</a:t>
            </a:r>
          </a:p>
          <a:p>
            <a:pPr algn="l"/>
            <a:r>
              <a:rPr sz="2000" b="0" i="0">
                <a:solidFill>
                  <a:srgbClr val="90CAF9"/>
                </a:solidFill>
                <a:latin typeface="Calibri"/>
              </a:rPr>
              <a:t>for Physics-Informed Neural Networks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07792"/>
            <a:ext cx="71323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35808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CAF9"/>
                </a:solidFill>
                <a:latin typeface="Calibri"/>
              </a:rPr>
              <a:t>IKT464 Advanced ICT Project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56432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DEFB"/>
                </a:solidFill>
                <a:latin typeface="Calibri"/>
              </a:rPr>
              <a:t>University of Agder  ·  Department of 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280160"/>
            <a:ext cx="3474720" cy="3840480"/>
          </a:xfrm>
          <a:prstGeom prst="rect">
            <a:avLst/>
          </a:prstGeom>
          <a:solidFill>
            <a:srgbClr val="0D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280160"/>
            <a:ext cx="34747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298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KEY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87451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CAF9"/>
                </a:solidFill>
                <a:latin typeface="Calibri"/>
              </a:rPr>
              <a:t>Best Result: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786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L2 = 0.014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6456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CAF9"/>
                </a:solidFill>
                <a:latin typeface="Calibri"/>
              </a:rPr>
              <a:t>vs FEM Baseline: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98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9× more accurate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375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CAF9"/>
                </a:solidFill>
                <a:latin typeface="Calibri"/>
              </a:rPr>
              <a:t>Inference Speed: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57164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18,400× faster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01055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F5F5"/>
                </a:solidFill>
                <a:latin typeface="Calibri"/>
              </a:rPr>
              <a:t>0.01 s  vs  184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6035040" cy="5394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Nine Progressive Levels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50292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190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Baseline PINN  —  Single-shot 2D quenching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39112"/>
            <a:ext cx="50292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05740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6654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Temporal Skip Operator  —  48% FEM step reduction (our design)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86584"/>
            <a:ext cx="50292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0487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41401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Hybrid FEM-PINN  —  Adaptive residual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34056"/>
            <a:ext cx="50292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75234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76148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Distortion Prediction  —  Mechanical + thermal coupling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81527"/>
            <a:ext cx="50292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099815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10895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L-BFGS Refinement  —  Two-stage Adam + L-BFGS 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428999"/>
            <a:ext cx="50292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447287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456431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Poisson Benchmark  —  Generalization to analytic PDE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76472"/>
            <a:ext cx="50292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794759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80390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Multi-Domain + Temporal  —  5 geometries, time-skip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123944"/>
            <a:ext cx="50292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142231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1513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3D Multi-Geometry  —  48 experiments across 4 3D domains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471416"/>
            <a:ext cx="50292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489703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4988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  <a:latin typeface="Calibri"/>
              </a:rPr>
              <a:t>SA-PINNs + Fourier  —  Self-adaptive weights + Fourier features  ← BEST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234440"/>
            <a:ext cx="5440680" cy="539496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1234440"/>
            <a:ext cx="5440680" cy="38404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1261872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Performance Summary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1783080"/>
            <a:ext cx="5212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18288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FEM Reference Time: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18288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62828"/>
                </a:solidFill>
                <a:latin typeface="Calibri"/>
              </a:rPr>
              <a:t>184 s per run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2203704"/>
            <a:ext cx="5212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22494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PINN Inference Time: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22494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Calibri"/>
              </a:rPr>
              <a:t>0.01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2624328"/>
            <a:ext cx="5212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26700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Speedup Factor: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26700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Calibri"/>
              </a:rPr>
              <a:t>18,400×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044952"/>
            <a:ext cx="5212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30906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Best L2 Error: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0906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Calibri"/>
              </a:rPr>
              <a:t>0.014  (Level 9)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3465576"/>
            <a:ext cx="5212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35112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vs FEM Baseline: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35112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Calibri"/>
              </a:rPr>
              <a:t>9× more accurate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3886200"/>
            <a:ext cx="5212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3931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Training Time: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39319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47A1"/>
                </a:solidFill>
                <a:latin typeface="Calibri"/>
              </a:rPr>
              <a:t>~400–600 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4306824"/>
            <a:ext cx="5212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43525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NAS Optimizers: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435254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237E"/>
                </a:solidFill>
                <a:latin typeface="Calibri"/>
              </a:rPr>
              <a:t>Bayesian, NSGA-II, NSGA-III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4727448"/>
            <a:ext cx="5212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47731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Total Experiments: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4773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237E"/>
                </a:solidFill>
                <a:latin typeface="Calibri"/>
              </a:rPr>
              <a:t>48  (Level 8 alone)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Problem — Industrial Casting &amp; FEM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A356 Aluminum Water Quenching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84324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A356 aluminum subframes undergo water quenching after casting.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8915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Non-uniform cooling → residual stress → distortion → quality issues.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21992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FEM Simulation (Current Standard):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39619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• Accurate but slow: 21 time steps × 8.8 s = 184 s per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44444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• Too slow for NAS, optimization, or real-time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4927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• Cannot run thousands of parameter sweeps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82112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PINN Approach (This Work):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99739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• Train once:  ~400–600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04564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• Predict full temperature field:  0.01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80939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• 18,400× faster at inference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014216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• Enables NAS, sensitivity analysis, param sweeps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234440"/>
            <a:ext cx="4434840" cy="5394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1234440"/>
            <a:ext cx="443484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252728"/>
            <a:ext cx="4343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Governing Equations &amp; Properties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7373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Calibri"/>
              </a:rPr>
              <a:t>Heat Equation: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194218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  ρ·cp·∂T/∂t = k·∇²T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2750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Calibri"/>
              </a:rPr>
              <a:t>Boundary Condition: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47985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  −k·∂T/∂n = h·(T − T∞)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81269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Calibri"/>
              </a:rPr>
              <a:t>A356 Material Properties: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0175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ρ  = 2670 kg/m³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22234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cp = 963 J/(kg·K)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42717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k  = 151 W/(m·K)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63199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T₀ = 540 °C  (initial)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83682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T∞ = 20 °C   (water)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15686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Calibri"/>
              </a:rPr>
              <a:t>HTC Regime: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3616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Film boiling   → h ≈ 800 W/m²K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5537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Nucleate boil. → h ≈ 12,000 W/m²K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74573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Convection     → h ≈ 1,000 W/m²K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FEM Reference Model — [Mortensen et al., 2026]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6766560" cy="5394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98448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What is the FEM Reference?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01368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We did NOT implement FEM ourselves.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91563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Calibri"/>
              </a:rPr>
              <a:t>Reference data is from: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76856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  <a:latin typeface="Calibri"/>
              </a:rPr>
              <a:t>  [Mortensen et al., 2026]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467051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"Mitigating distortions in cast automotive subframes: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45359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 A finite element simulation approach"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823667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Int J Adv Manuf Technol,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001975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  DOI: 10.1007/s00170-026-17515-w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287268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Calibri"/>
              </a:rPr>
              <a:t>From this paper we extracted: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477463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  ✓ Material params (Table 1) — A356 flow stress F, n, m vs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655771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  ✓ HTC curve h(T) — boiling regime transition (Fig. 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834079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  ✓ Ref. temperature histories (Figs 7, 15-17) — ground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012387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  ✓ Distortion at 8 CMM measurement points (Fig. 15)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309567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Standard practice: compare PINN predictions to published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487875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FEM results rather than re-implementing FEM from scratch.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234440"/>
            <a:ext cx="4709160" cy="5394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1234440"/>
            <a:ext cx="47091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1252728"/>
            <a:ext cx="4617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A356 Flow Stress Parameters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1618488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212121"/>
                </a:solidFill>
                <a:latin typeface="Calibri"/>
              </a:rPr>
              <a:t>(Source: Table 1, [Mortensen et al., 2026])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60920" y="1938528"/>
          <a:ext cx="44348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664"/>
                <a:gridCol w="1241755"/>
                <a:gridCol w="1108710"/>
                <a:gridCol w="1108710"/>
              </a:tblGrid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 (°C)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 (MPa)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0.300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16.0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0.125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0.150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12.3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550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0.277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269480" y="385876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Parameter Definitions: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187952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• F — Flow stress coefficient (MPa)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480560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• n — Strain rate sensitivity exponent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773168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• m — Thermal softening exponent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5065776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• T — Temperature (°C)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59436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12121"/>
                </a:solidFill>
                <a:latin typeface="Calibri"/>
              </a:rPr>
              <a:t>Used in Level 4 mechanical coupling (distortion).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Why Replace FEM?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  <a:latin typeface="Calibri"/>
              </a:rPr>
              <a:t>Side-by-Side Comparison: FEM (Reference) vs Our PINN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4711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366"/>
                <a:gridCol w="2811780"/>
                <a:gridCol w="5960973"/>
              </a:tblGrid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FEM (Reference)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Our PINN (Level 9)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Runtime per field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184 s per run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444 s train + 0.01 s predict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Time steps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21 FEM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1 training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Prediction time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184 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0.01 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Accuracy (L2)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Reference (ground truth)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B5E20"/>
                          </a:solidFill>
                          <a:latin typeface="Calibri"/>
                        </a:rPr>
                        <a:t>0.014  ← BEST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NAS-compatible?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No  (too slow)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Parameter sweep?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No  (1000 runs = 51 hours)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Yes  (1000 runs = 10 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GPU required?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Yes (available on server)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Mesh needed?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Yes (structured FEM mesh)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No  (meshfree collocation)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937760"/>
            <a:ext cx="109728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0017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Once the PINN is trained, running 1000 parameter variations takes 10 seconds instead of 51 hours (1000 × 184 s). This unlocks NAS, uncertainty quantification, and real-time optimization that are impossible with FEM.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961888"/>
            <a:ext cx="11247120" cy="6858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01675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D4037"/>
                </a:solidFill>
                <a:latin typeface="Calibri"/>
              </a:rPr>
              <a:t>Note: The 444 s training time is a one-time cost. Amortized over 1000 queries: total = 444 s + 10 s = 454 s  vs  FEM 184,000 s — a 405× reduction in total wall-clock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Contribution 1: Temporal Skip Operator  (our design)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6675120" cy="5394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Why we designed this: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2796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Standard PINNs need 21 separate training runs (one per FEM step).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0627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We designed a single network that predicts s steps ahead.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91563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The Formula: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93645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  <a:latin typeface="Calibri"/>
              </a:rPr>
              <a:t>  T̂(t + s·Δt) = T_IC + τ · fθ(x, y, τ, T_IC)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838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where  τ = t / (s·Δt)  ∈ [0,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69133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Why this specific form: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87121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  At τ = 0:  prediction = T_IC  (IC satisfied exactly)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04952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  Eliminates IC as a soft constraint → faster convergence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22783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Inspired by IC-residual formulations [Lagaris et al., 1998]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51312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Our Novelty: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70332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The temporal skip concept (s &gt; 1) is our contribution.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88162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Not found in prior PINN literature for quenching.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05993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At skip=2: error DECREASES because fewer FEM steps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23824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less numerical discretization error from FEM accumulates.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1234440"/>
            <a:ext cx="4846320" cy="539496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86600" y="1234440"/>
            <a:ext cx="4846320" cy="38404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126187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Skip Operator Results (Level 2)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223760" y="1691640"/>
          <a:ext cx="452627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781"/>
                <a:gridCol w="995781"/>
                <a:gridCol w="995781"/>
                <a:gridCol w="1538935"/>
              </a:tblGrid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Skip 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FEM Calls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FEM Saved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L2 Error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1  (baseline)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21 / 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0.126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11 /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B5E20"/>
                          </a:solidFill>
                          <a:latin typeface="Calibri"/>
                        </a:rPr>
                        <a:t>0.108  ← recommended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 6 / 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0.204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 4 /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7086600" y="3493008"/>
            <a:ext cx="4846320" cy="1234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3493008"/>
            <a:ext cx="9144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3538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Key Insight: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858768"/>
            <a:ext cx="4480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skip=2 gives LOWER error than skip=1 because fewer FEM boundary conditions are imposed, reducing accumulated FEM discretization error in the PINN training signal.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4828032"/>
            <a:ext cx="4846320" cy="16459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48737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Calibri"/>
              </a:rPr>
              <a:t>FEM Savings at skip=2: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184648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21 steps → 11 steps  =  48% fewer FEM calls
184 s → ~91 s per parameter sweep point
For 1000 NAS candidates: saves ~93,000 s of FEM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Contribution 2: Fourier Feature Embedding  [Tancik et al., 2020]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6675120" cy="5394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Why we adopted this: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2796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Standard MLPs suffer from 'spectral bias' [Rahaman et al., 2019]: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0627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they learn low-frequency patterns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91563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Calibri"/>
              </a:rPr>
              <a:t>A356 quenching characteristics: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8175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• Rapid cooling in first 5 s: ΔT ≈ 200°C (high-frequency signal)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6006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• Standard PINNs learn this slowly → poor early predictions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4535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What we adopted from [Tancik et al., 2020]: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847441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  <a:latin typeface="Calibri"/>
              </a:rPr>
              <a:t>  Encoding:  γ(v) = [sin(2π·B·v),  cos(2π·B·v)]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03763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B ∼ N(0, σ²),  frozen during training (not learned)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21594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Our settings:  n_fourier=64,  σ=1.0  →  128-dim 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39425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Applied to all inputs: (x, y, t, T_IC)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679545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What we implemented ourselves: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881627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  FourierEmbedding class  (fourier_pinn.py)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059935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  Integration with NAS architecture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23824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  Ablation: SA+Fourier vs SA-only vs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52353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Effect on L2 (NSGA-II):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71373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SA-only:     L2 = 0.0397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8920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  SA+Fourier:  L2 = 0.0137  (3× improvement)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1234440"/>
            <a:ext cx="4846320" cy="5394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86600" y="1234440"/>
            <a:ext cx="484632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26187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Convergence Comparison</a:t>
            </a:r>
          </a:p>
        </p:txBody>
      </p:sp>
      <p:pic>
        <p:nvPicPr>
          <p:cNvPr id="27" name="Picture 26" descr="fig3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91640"/>
            <a:ext cx="4663440" cy="32918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32320" y="5047488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212121"/>
                </a:solidFill>
                <a:latin typeface="Calibri"/>
              </a:rPr>
              <a:t>Fig 3: Training convergence with / without Fourier features
(Level 9, NSGA-II optimizer, 2D quenching domain)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5559552"/>
            <a:ext cx="4846320" cy="1051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86600" y="5559552"/>
            <a:ext cx="9144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5605272"/>
            <a:ext cx="4617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Fourier features reduce training epochs for convergence by ~30% and improve final L2 by 3× compared to SA-only on the same NAS-selected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Contribution 3: Self-Adaptive Loss Weights  [Wang et al., 2022]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6675120" cy="5394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Why we adopted this: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2796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  <a:latin typeface="Calibri"/>
              </a:rPr>
              <a:t>PINN loss = λ_phys·L_phys + λ_bc·L_bc + λ_ic·L_ic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18157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Our three loss terms differ in scale by 10⁴: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96465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62828"/>
                </a:solidFill>
                <a:latin typeface="Calibri"/>
              </a:rPr>
              <a:t>  PDE residual scale: ~4 × 10⁷  (dominant)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74773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BC loss scale:      ~17,333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253081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IC loss scale:      ~520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53837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Problem with fixed weights: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72856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λ = (1, 10, 10) works for one problem but needs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06877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expert retuning for each geometry or material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085185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Wrong weights → optimization dominated by large PDE term.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37047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Solution from [Wang et al., 2022]: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57256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λ = softplus(w),  where w is a learnable parameter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75086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w trained jointly with network at smaller lr = 0.001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92917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  Weights adapt automatically to loss scale differences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21446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What we implemented: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41655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Calibri"/>
              </a:rPr>
              <a:t>  SelfAdaptiveWeights module  (sa_loss.py)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59486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Initial:    λ_phys=1.0,  λ_bc=10.0,  λ_ic=10.0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77316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  Converged:  λ_phys≈0.48, λ_bc≈9.28, λ_ic≈9.28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95147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Ratio λ_bc / λ_phys ≈ 19×  (boundary/IC dominate)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1234440"/>
            <a:ext cx="4846320" cy="5394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1234440"/>
            <a:ext cx="484632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126187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 Weight Evolution During Training</a:t>
            </a:r>
          </a:p>
        </p:txBody>
      </p:sp>
      <p:pic>
        <p:nvPicPr>
          <p:cNvPr id="28" name="Picture 27" descr="fig4_sa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91640"/>
            <a:ext cx="4663440" cy="32918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32320" y="5047488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212121"/>
                </a:solidFill>
                <a:latin typeface="Calibri"/>
              </a:rPr>
              <a:t>Fig 4: Self-adaptive weight evolution over training epochs
(Level 9, NSGA-II optimizer, 2D quenching)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5559552"/>
            <a:ext cx="4846320" cy="1051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86600" y="5559552"/>
            <a:ext cx="9144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5605272"/>
            <a:ext cx="4617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SA weights allow the same architecture to work across all 9 levels without manual retuning — critical for NAS where different architectures produce different loss scales.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Neural Architecture Search — Three Optimizers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3749039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3749039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3611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Bayesian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0992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Based on: [Snoek et al., 2012]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6994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Library: scikit-optimize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2415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Strategy: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417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Gaussian Process surrogate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4419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over architecture search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839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Evaluations: 500 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5841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Best for: simpler geometries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12617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Level 9 Best L2: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72637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0.0253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37813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Architecture found: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97833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5 layers × 128 neurons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857853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Activation: GELU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17873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~83K parameters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1234440"/>
            <a:ext cx="3749039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1234440"/>
            <a:ext cx="3749039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1252728"/>
            <a:ext cx="3611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NSGA-II  ← BEST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170992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Based on: [Deb et al., 2002]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186994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Library: pymoo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212415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Strategy: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228417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Multi-objective evolutionary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244419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2 objectives: L2 + #params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269839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Evaluations: pop=20 × 25 gens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285841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Best for: complex geometries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3112617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  <a:latin typeface="Calibri"/>
              </a:rPr>
              <a:t>Level 9 Best L2: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3272637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  0.0137  ← OVERALL BEST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354878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Architecture found: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370880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4 layers × 96 neurons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386882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Activation: SiLU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402884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~67K parameters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11312" y="1234440"/>
            <a:ext cx="3749039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11312" y="1234440"/>
            <a:ext cx="3749039" cy="3657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1252728"/>
            <a:ext cx="3611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NSGA-III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170992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Based on: [Deb &amp; Jain, 2014]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186994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Library: pymoo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2" y="212415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Strategy: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2" y="228417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Many-objective with reference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244419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point vectors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69839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Evaluations: pop=20 × 25 gens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85841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Best for: compact architectures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112617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Level 9 Best L2: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272637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  0.0668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537813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  <a:latin typeface="Calibri"/>
              </a:rPr>
              <a:t>Architecture found: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3697833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3 layers × 64 neurons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2" y="3857853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Activation: Tanh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2" y="4017873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  ~17K parameters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6199632"/>
            <a:ext cx="11731752" cy="5486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62636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37E"/>
                </a:solidFill>
                <a:latin typeface="Calibri"/>
              </a:rPr>
              <a:t>NAS Search Space:  Layers: 3–6  |  Neurons/layer: 64–160  |  Activations: Tanh, GELU, SiLU, ReLU  |  Fourier features: on/off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Level 8 — 3D Multi-Geometry Results  (48 Experiments)</a:t>
            </a:r>
          </a:p>
        </p:txBody>
      </p:sp>
      <p:pic>
        <p:nvPicPr>
          <p:cNvPr id="5" name="Picture 4" descr="fig4_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4206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577840"/>
            <a:ext cx="11247120" cy="10972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623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7E"/>
                </a:solidFill>
                <a:latin typeface="Calibri"/>
              </a:rPr>
              <a:t>4 domains  ×  3 NAS optimizers  ×  4 skip values  =  48 total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6188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Calibri"/>
              </a:rPr>
              <a:t>Best: L-Shape domain, NSGA-II/III, skip=1 → MAE = 2.19°C  |  At skip=2 (48% FEM savings): all domains achieve MAE &lt; 11°C  |  3D gap: L2 ~0.09–0.20 vs 0.014 (2D) — future work: 3D-specific NAS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Level 9 — SA-PINNs + Fourier Features  (Best Performance)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6126480" cy="3794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Level 9 Results — All Variants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73352"/>
          <a:ext cx="598931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543"/>
                <a:gridCol w="1197864"/>
                <a:gridCol w="718718"/>
                <a:gridCol w="1377543"/>
                <a:gridCol w="1317650"/>
              </a:tblGrid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Dim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Train (s)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SA+Fourier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Bayesian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0.0253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482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SA+Fourier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NSGA-II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B5E20"/>
                          </a:solidFill>
                          <a:latin typeface="Calibri"/>
                        </a:rPr>
                        <a:t>0.0137*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SA+Fourier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NSGA-III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0.0668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412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SA+Fourier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Bayesian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SA-only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Bayesian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0.0151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SA-only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NSGA-II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0.0397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SA-only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NSGA-III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0.0521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361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NSGA-II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12121"/>
                          </a:solidFill>
                          <a:latin typeface="Calibri"/>
                        </a:rPr>
                        <a:t>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4988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12121"/>
                </a:solidFill>
                <a:latin typeface="Calibri"/>
              </a:rPr>
              <a:t>* = overall best result across all 9 levels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234440"/>
            <a:ext cx="5394960" cy="3794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234440"/>
            <a:ext cx="539496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5272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Exact vs Predicted Temperature Fields</a:t>
            </a:r>
          </a:p>
        </p:txBody>
      </p:sp>
      <p:pic>
        <p:nvPicPr>
          <p:cNvPr id="12" name="Picture 11" descr="fig1_2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27632"/>
            <a:ext cx="530352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0" y="47365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212121"/>
                </a:solidFill>
                <a:latin typeface="Calibri"/>
              </a:rPr>
              <a:t>Fig 1: Level 9 exact vs predicted fields (t = 5 s, 15 s, 21 s)
SA+Fourier, NSGA-II,  L2 = 0.0137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074920"/>
            <a:ext cx="11731752" cy="1508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5074920"/>
            <a:ext cx="109728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1389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Best L2 = 0.0137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8640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4× improvement over Level 5 (L2=0.055)
9× better than FEM skip=1 (L2=0.126)
Inference: 0.01 s  vs  FEM 184 s  →  18,400× speedup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1389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Calibri"/>
              </a:rPr>
              <a:t>NSGA-II Architecture: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458968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4 hidden layers  ×  96 neurons  |  Activation: SiLU
Fourier features: n=64, σ=1.0  |  ~67K parameters
SA weights: λ_phys=0.48, λ_bc=9.28, λ_ic=9.28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FEM Skip vs PINN — Full Comparison Across All Levels</a:t>
            </a:r>
          </a:p>
        </p:txBody>
      </p:sp>
      <p:pic>
        <p:nvPicPr>
          <p:cNvPr id="5" name="Picture 4" descr="fem_pinn_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486400"/>
            <a:ext cx="109728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5504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Progressive improvement: L2 went from 0.126 (L1) → 0.014 (L9)  =  9× reduction.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9161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Key: Fourier features alone gave 3× L2 improvement in L9 (0.0397 → 0.0137). Combined with SA weights and NSGA-II architecture search, this is the complete NAS-MCO-PINNs framework.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Findings and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61872"/>
            <a:ext cx="3749039" cy="2331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457200" cy="2331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20848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53312"/>
            <a:ext cx="3108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Skip=2 is Optimal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46504"/>
            <a:ext cx="3108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48% fewer FEM calls while IMPROVING accuracy. Less error accumulation from FEM discretization. Recommended default for all quenching scenarios.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1261872"/>
            <a:ext cx="3749039" cy="23317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7952" y="1261872"/>
            <a:ext cx="457200" cy="2331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20848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1353312"/>
            <a:ext cx="3108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Fourier Features 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1746504"/>
            <a:ext cx="3108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Spectral bias in standard PINNs slows learning of rapid initial cooling (ΔT≈200°C in 5 s). Fourier encoding gives 3× L2 improvement.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6448" y="1261872"/>
            <a:ext cx="3749039" cy="2331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6448" y="1261872"/>
            <a:ext cx="457200" cy="2331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0848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1353312"/>
            <a:ext cx="3108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SA Weights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1746504"/>
            <a:ext cx="3108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λ values converge to λ_bc ≈ 19× λ_phys. Boundary and IC conditions dominate. No manual retuning needed across geometries.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822191"/>
            <a:ext cx="3749039" cy="23317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822191"/>
            <a:ext cx="457200" cy="2331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4645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13631"/>
            <a:ext cx="3108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NSGA-II Best for 2D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06824"/>
            <a:ext cx="3108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Finds compact 67K-param architecture that generalizes well. Multi-objective Pareto front (L2 + params) identifies efficient architectures automatically.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3822191"/>
            <a:ext cx="3749039" cy="23317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87952" y="3822191"/>
            <a:ext cx="457200" cy="23317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87952" y="4645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3913631"/>
            <a:ext cx="3108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C00"/>
                </a:solidFill>
                <a:latin typeface="Calibri"/>
              </a:rPr>
              <a:t>3D Gap Remains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4306824"/>
            <a:ext cx="3108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NAS in 2D cannot find adequate 3D architectures. L2 jumps from 0.014 (2D) to 0.247 (3D). Future work: 3D-specific NAS, transfer learning.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56448" y="3822191"/>
            <a:ext cx="3749039" cy="2331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56448" y="3822191"/>
            <a:ext cx="457200" cy="2331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4645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3913631"/>
            <a:ext cx="3108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L9 Final: L2 = 0.014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05088" y="4306824"/>
            <a:ext cx="3108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9× better than FEM skip=1 baseline (L2=0.126). 18,400× faster inference (0.01 s vs 184 s). Enables NAS, optimization, real-time prediction.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580644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5623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[1]  Raissi, M., Perdikaris, P., &amp; Karniadakis, G.E. (2019). Physics-informed neural networks: A deep learning framework for solving forward and inverse problems. J. Comput. Phys., 378, 686–707. DOI: 10.1016/j.jcp.2018.10.045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75688"/>
            <a:ext cx="5623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[2]  Mortensen et al. (2026). Mitigating distortions in cast automotive subframes: A finite element simulation approach. Int J Adv Manuf Technol. DOI: 10.1007/s00170-026-17515-w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25496"/>
            <a:ext cx="5623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[3]  Tancik, M., et al. (2020). Fourier Features Let Networks Learn High Frequency Functions in Low Dimensional Domains. NeurIPS 2020.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75303"/>
            <a:ext cx="5623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[4]  Wang, S., Teng, Y., &amp; Perdikaris, P. (2021). Understanding and mitigating gradient flow pathologies in physics-informed neural networks. SIAM J. Sci. Comput., 43(5).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325112"/>
            <a:ext cx="5623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[5]  Wang, S., Yu, X., &amp; Perdikaris, P. (2022). When and why PINNs fail to train: A neural tangent kernel perspective. J. Comput. Phys., 449. DOI: 10.1016/j.jcp.2021.110768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074920"/>
            <a:ext cx="5623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[6]  Deb, K., Pratap, A., Agarwal, S., &amp; Meyarivan, T. (2002). A fast and elitist multiobjective genetic algorithm: NSGA-II. IEEE Trans. Evol. Comput., 6(2). DOI: 10.1109/4235.996017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76072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5778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[7]  Deb, K., &amp; Jain, H. (2014). An evolutionary many-objective optimization algorithm using reference-point-based nondominated sorting: NSGA-III. IEEE Trans. Evol. Comput., 18(4). DOI: 10.1109/TEVC.2013.2281535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75688"/>
            <a:ext cx="55778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[8]  Snoek, J., Larochelle, H., &amp; Adams, R.P. (2012). Practical Bayesian Optimization of Machine Learning Algorithms. NeurIPS 2012.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25496"/>
            <a:ext cx="55778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[9]  Glorot, X., &amp; Bengio, Y. (2010). Understanding the difficulty of training deep feedforward neural networks. AISTATS 2010.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75303"/>
            <a:ext cx="55778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[10] Lagaris, I.E., Likas, A., &amp; Fotiadis, D.I. (1998). Artificial neural networks for solving ordinary and partial differential equations. IEEE Trans. Neural Netw., 9(5). DOI: 10.1109/72.712178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25112"/>
            <a:ext cx="55778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[11] Rahaman, N., et al. (2019). On the spectral bias of neural networks. ICML 2019.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074920"/>
            <a:ext cx="55778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  <a:latin typeface="Calibri"/>
              </a:rPr>
              <a:t>[12] Liu, D.C., &amp; Nocedal, J. (1989). On the limited memory BFGS method for large scale optimization. Math. Programming, 45(1–3), 503–528.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64008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00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CAF9"/>
                </a:solidFill>
                <a:latin typeface="Calibri"/>
              </a:rPr>
              <a:t>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